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B4332"/>
                </a:solidFill>
                <a:latin typeface="Georgia"/>
              </a:defRPr>
            </a:pPr>
            <a:r>
              <a:rPr sz="1500" b="0" i="0" u="none" strike="noStrike">
                <a:solidFill>
                  <a:srgbClr val="1B4332"/>
                </a:solidFill>
                <a:latin typeface="Georgia"/>
              </a:rPr>
              <a:t>Test R² by Model (held-out 2012–14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881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881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8815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0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70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706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706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C6C25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LightGBM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XGBoost</c:v>
                  </c:pt>
                  <c:pt idx="4">
                    <c:v>Decision Tree</c:v>
                  </c:pt>
                  <c:pt idx="5">
                    <c:v>Ridge</c:v>
                  </c:pt>
                  <c:pt idx="6">
                    <c:v>Lasso</c:v>
                  </c:pt>
                  <c:pt idx="7">
                    <c:v>Linear Reg.</c:v>
                  </c:pt>
                  <c:pt idx="8">
                    <c:v>KNN</c:v>
                  </c:pt>
                  <c:pt idx="9">
                    <c:v>AdaBoost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0.855</c:v>
                </c:pt>
                <c:pt idx="1">
                  <c:v>0.854</c:v>
                </c:pt>
                <c:pt idx="2">
                  <c:v>0.834</c:v>
                </c:pt>
                <c:pt idx="3">
                  <c:v>0.799</c:v>
                </c:pt>
                <c:pt idx="4">
                  <c:v>0.776</c:v>
                </c:pt>
                <c:pt idx="5">
                  <c:v>0.749</c:v>
                </c:pt>
                <c:pt idx="6">
                  <c:v>0.748</c:v>
                </c:pt>
                <c:pt idx="7">
                  <c:v>0.747</c:v>
                </c:pt>
                <c:pt idx="8">
                  <c:v>0.742</c:v>
                </c:pt>
                <c:pt idx="9">
                  <c:v>0.498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440000"/>
          <a:lstStyle/>
          <a:p>
            <a:pPr>
              <a:defRPr sz="1050" b="0" i="0" u="none" strike="noStrike">
                <a:solidFill>
                  <a:srgbClr val="1B1B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5E2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E9C46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 · 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Yield Intelligence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district-level crop yield across India to spot high- and low-productivity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before the season's outcome is known.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4572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49,170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72084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– 2014  ·  Government of India Open Data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varies district by district —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planners find out only after the season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221992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departments, crop insurers, agri-input companies, and farmer-advisory services.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2152" y="1965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2221992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74320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yield varies widely by district, crop, and season — with no early warning before harvest.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55664" y="1965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2221992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74320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× crop × season yield estimate that flags likely under-performers early.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9176" y="196596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10344" y="2221992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10344" y="2743200"/>
            <a:ext cx="229514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Better-targeted subsidies and evidence-based planning — business value and social value together.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dataset, one hard rule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District-wise, Season-wise Crop Production Statistics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India Open Data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49,784 raw records  →  49,170 after cleaning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 – 2014  ·  7 states  ·  112 districts  ·  80 crops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values, zero duplicates — 109 zero-production rows removed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892040" cy="4023360"/>
          </a:xfrm>
          <a:prstGeom prst="roundRect">
            <a:avLst>
              <a:gd name="adj" fmla="val 3182"/>
            </a:avLst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2240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606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= Production ÷ Area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32461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is the target's own ingredient — so Production is never fed to the model as an input. Using it would leak the answer directly into the features.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86600" y="48006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instead: State, District, Crop, Season, Year, Cultivated Area, and engineered historical-yield features.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QUALITY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decisions, each with a reason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correction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203911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→ int; categorical fields trimmed &amp; cast to string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records dropped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90779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≤ 0 or Production &lt; 0 removed (109 rows)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7647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recomputed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77647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= Production ÷ Area, calculated fresh — not trusted from source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4515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Per-crop outlier capping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464515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±3×IQR computed separately per crop — yield scale differs hugely by crop type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1383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 columns dropped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551383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the source Yield column excluded entirely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1.23% of rows removed, all justified above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 performance beats field size</a:t>
            </a:r>
            <a:endParaRPr lang="en-US" sz="3200" dirty="0"/>
          </a:p>
        </p:txBody>
      </p:sp>
      <p:pic>
        <p:nvPicPr>
          <p:cNvPr id="4" name="Image 0" descr="/home/claude/crop_yield_project/reports/figures/03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029200" cy="4206240"/>
          </a:xfrm>
          <a:prstGeom prst="rect">
            <a:avLst/>
          </a:prstGeom>
        </p:spPr>
      </p:pic>
      <p:pic>
        <p:nvPicPr>
          <p:cNvPr id="5" name="Image 1" descr="/home/claude/crop_yield_project/reports/figures/06_avg_yield_by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74520"/>
            <a:ext cx="5760720" cy="2788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52160" y="4800600"/>
            <a:ext cx="5760720" cy="1280160"/>
          </a:xfrm>
          <a:prstGeom prst="roundRect">
            <a:avLst>
              <a:gd name="adj" fmla="val 7143"/>
            </a:avLst>
          </a:prstGeom>
          <a:solidFill>
            <a:srgbClr val="F7F5E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080760" y="4937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Historical_Yield correlates with the target at r ≈ 0.90 — while raw cultivated Area barely correlates at all. Past performance, not scale, drives yield.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the past, safely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Historical_Yield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 yield for the same State + District + Crop + Season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2152" y="19659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Historical_Yield_Avg3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85032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3-year average yield for the same combination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55664" y="19659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38544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Area_log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38544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log(1+Area) — tames the heavy right-skew in cultivated area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9176" y="1965960"/>
            <a:ext cx="26974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056" y="21488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Years_Since_Start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92056" y="2788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year-trend feature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fill: ~11% of rows lack history (first year a combination appears). These are filled using TRAINING-SET-ONLY crop averages, computed after the train/test split — so no future information leaks backward.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VALIDATION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by time, not at random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9220200" cy="822960"/>
          </a:xfrm>
          <a:prstGeom prst="roundRect">
            <a:avLst>
              <a:gd name="adj" fmla="val 6667"/>
            </a:avLst>
          </a:prstGeom>
          <a:solidFill>
            <a:srgbClr val="2D6A4F"/>
          </a:solidFill>
          <a:ln/>
        </p:spPr>
      </p:sp>
      <p:sp>
        <p:nvSpPr>
          <p:cNvPr id="5" name="Shape 3"/>
          <p:cNvSpPr/>
          <p:nvPr/>
        </p:nvSpPr>
        <p:spPr>
          <a:xfrm>
            <a:off x="9768840" y="3017520"/>
            <a:ext cx="1844040" cy="822960"/>
          </a:xfrm>
          <a:prstGeom prst="roundRect">
            <a:avLst>
              <a:gd name="adj" fmla="val 6667"/>
            </a:avLst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17520"/>
            <a:ext cx="922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·  1997 – 2011  ·  40,021 rows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68840" y="3017520"/>
            <a:ext cx="1844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9,149 rows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a random split?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4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Historical_Yield is a lag feature — a random split would let future years leak into earlier ones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4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(scaling, one-hot encoding) fit ONLY on the training fold via sklearn Pipeline + ColumnTransformer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4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cross-validation on the training set adds a stability check alongside the single held-out test 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07–09 · MODEL DEVELOPMENT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models, tested honestly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07–09 · MODEL DEVELOPMENT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honest findings worth keeping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BC6C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6C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AdaBoost failed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R² = −3.47 — a negative score. Its default weak learners and loss weighting are poorly suited to this heavy-tailed, high-cardinality target.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tested per the assignment's algorithm list, but correctly NOT selected — models were chosen for suitability, not to force a result.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5881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81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didn't win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697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tuned LightGBM and Random Forest on training-only CV. Neither tuned config beat the untuned LightGBM baseline (0.855) on the test set.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4343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automatically keeps whichever model performs best — so the baseline was retained as final, reported as-is rather than forcing an 'improvement'.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FINAL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— the model in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384.2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350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92024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0116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0.108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778240" y="26060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1050" dirty="0"/>
          </a:p>
        </p:txBody>
      </p:sp>
      <p:pic>
        <p:nvPicPr>
          <p:cNvPr id="16" name="Image 0" descr="/home/claude/crop_yield_project/reports/figures/08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29000"/>
            <a:ext cx="4160520" cy="3063240"/>
          </a:xfrm>
          <a:prstGeom prst="rect">
            <a:avLst/>
          </a:prstGeom>
        </p:spPr>
      </p:pic>
      <p:pic>
        <p:nvPicPr>
          <p:cNvPr id="17" name="Image 1" descr="/home/claude/crop_yield_project/reports/figures/10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429000"/>
            <a:ext cx="6720840" cy="30632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PREDICTION &amp;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 and low-productivity districts</a:t>
            </a:r>
            <a:endParaRPr lang="en-US" sz="3200" dirty="0"/>
          </a:p>
        </p:txBody>
      </p:sp>
      <p:pic>
        <p:nvPicPr>
          <p:cNvPr id="4" name="Image 0" descr="/home/claude/crop_yield_project/reports/figures/11_district_produ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110642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88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RESPONSIBLE AI &amp; ETHICS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shouldn't be trusted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sensitive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aggregated, public agricultural statistics — no personal information.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disclosed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varies by state, mostly driven by how many historical records exist per state — disclosed, not hidden.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guarantee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292608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a planning aid, not a certified yield outcome — never used to unilaterally deny support.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 · CONCLUSION &amp; 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 performance is the strongest signal we have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LightGBM model (Test R² = 0.855) confirms district-crop-season history predicts near-term yield better than any structural feature alone.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crop-district combos fall back to a crop average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Coconut &amp; similar crops use non-tonne units, inflating some districts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0" y="402336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rainfall &amp; soil-quality data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unit-mismatched crops separately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3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prediction intervals via quantile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Notebook  ·  Full pipeline  —  all reproducible via requirements.txt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Agricultural Crop-Yield Prediction</dc:title>
  <dc:subject>PptxGenJS Presentation</dc:subject>
  <dc:creator>ML Capstone</dc:creator>
  <cp:lastModifiedBy>ML Capstone</cp:lastModifiedBy>
  <cp:revision>1</cp:revision>
  <dcterms:created xsi:type="dcterms:W3CDTF">2026-07-23T16:36:28Z</dcterms:created>
  <dcterms:modified xsi:type="dcterms:W3CDTF">2026-07-23T16:36:28Z</dcterms:modified>
</cp:coreProperties>
</file>